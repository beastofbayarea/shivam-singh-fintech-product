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Committed target</c:v>
                </c:pt>
              </c:strCache>
            </c:strRef>
          </c:tx>
          <c:spPr>
            <a:solidFill>
              <a:srgbClr val="0751E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Decision speed</c:v>
                </c:pt>
                <c:pt idx="1">
                  <c:v>Lead time</c:v>
                </c:pt>
                <c:pt idx="2">
                  <c:v>Trader adoption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30</c:v>
                </c:pt>
                <c:pt idx="2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E2-436B-ADB0-95F3FC5402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Stretch band</c:v>
                </c:pt>
              </c:strCache>
            </c:strRef>
          </c:tx>
          <c:spPr>
            <a:solidFill>
              <a:srgbClr val="11409C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Decision speed</c:v>
                </c:pt>
                <c:pt idx="1">
                  <c:v>Lead time</c:v>
                </c:pt>
                <c:pt idx="2">
                  <c:v>Trader adoption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E2-436B-ADB0-95F3FC5402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6E3F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</c:scaling>
        <c:delete val="0"/>
        <c:axPos val="b"/>
        <c:majorGridlines>
          <c:spPr>
            <a:ln w="12700" cap="flat">
              <a:solidFill>
                <a:srgbClr val="0A315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DAFF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D6E3F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827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 only counts if reversals and incidents stay flat. The two guardrails on the right are the promise; the bars are the ambition.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 the workflow layer, interface with services and data, protect execution. The path is sequential and evidence-gated at every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Prioritise by the trader decision supported and the risk of touching live trading. Bubble size is engineering effort; placement is re-scored with desk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stages, three gates. Nothing ships without locked baselines, live telemetry and a rehearsed rollback. Months 3-12 scale only what two or more workflows already 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1 is unlikely but critical, so it gets the hardest control. Risk 2 is the most probable and is managed by pilots and measured decision delta.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mechanisms strengthen specific decisions. None of them replaces the roadmap; each is a gate you can add where the failure mode justifies the 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"/>
            <a:ext cx="1371600" cy="249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229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STRATEGY  /  IMC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858000" y="82296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2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SHIVAM SINGH  ·  AUG 2026</a:t>
            </a:r>
            <a:endParaRPr lang="en-US" sz="90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400" b="1" kern="0" spc="-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 DECISIONS</a:t>
            </a:r>
            <a:endParaRPr lang="en-US" sz="34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400" b="1" kern="0" spc="-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EXECUTION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2880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D6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 IMC's trader-facing tools while protecting live pricing, quoting and execution.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52360" y="1325880"/>
            <a:ext cx="4206240" cy="2194560"/>
          </a:xfrm>
          <a:prstGeom prst="roundRect">
            <a:avLst>
              <a:gd name="adj" fmla="val 2083"/>
            </a:avLst>
          </a:prstGeom>
          <a:solidFill>
            <a:srgbClr val="021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0" y="15727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PRINCIPLE</a:t>
            </a:r>
            <a:endParaRPr lang="en-US" sz="950"/>
          </a:p>
        </p:txBody>
      </p:sp>
      <p:sp>
        <p:nvSpPr>
          <p:cNvPr id="9" name="Text 6"/>
          <p:cNvSpPr/>
          <p:nvPr/>
        </p:nvSpPr>
        <p:spPr>
          <a:xfrm>
            <a:off x="7772400" y="18745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kern="0" spc="-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kern="0" spc="-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772400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 ×  TRUST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39136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YEAR-ONE OUTCOME HYPOTHESES</a:t>
            </a:r>
            <a:endParaRPr lang="en-US" sz="950" dirty="0"/>
          </a:p>
        </p:txBody>
      </p:sp>
      <p:graphicFrame>
        <p:nvGraphicFramePr>
          <p:cNvPr id="12" name="Chart 0" descr="Chart"/>
          <p:cNvGraphicFramePr/>
          <p:nvPr>
            <p:extLst>
              <p:ext uri="{D42A27DB-BD31-4B8C-83A1-F6EECF244321}">
                <p14:modId xmlns:p14="http://schemas.microsoft.com/office/powerpoint/2010/main" val="1462824662"/>
              </p:ext>
            </p:extLst>
          </p:nvPr>
        </p:nvGraphicFramePr>
        <p:xfrm>
          <a:off x="411480" y="4160520"/>
          <a:ext cx="66751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7452360" y="39136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HOLD-THE-LINE GUARDRAILS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452360" y="4224528"/>
            <a:ext cx="4206240" cy="932688"/>
          </a:xfrm>
          <a:prstGeom prst="roundRect">
            <a:avLst>
              <a:gd name="adj" fmla="val 3922"/>
            </a:avLst>
          </a:prstGeom>
          <a:solidFill>
            <a:srgbClr val="021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726680" y="43525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REVERSALS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726680" y="45720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increase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726680" y="488289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Corrected, undone or reopened decisions</a:t>
            </a:r>
            <a:endParaRPr lang="en-US" sz="850"/>
          </a:p>
        </p:txBody>
      </p:sp>
      <p:sp>
        <p:nvSpPr>
          <p:cNvPr id="18" name="Shape 14"/>
          <p:cNvSpPr/>
          <p:nvPr/>
        </p:nvSpPr>
        <p:spPr>
          <a:xfrm>
            <a:off x="7452360" y="5276088"/>
            <a:ext cx="4206240" cy="932688"/>
          </a:xfrm>
          <a:prstGeom prst="roundRect">
            <a:avLst>
              <a:gd name="adj" fmla="val 3922"/>
            </a:avLst>
          </a:prstGeom>
          <a:solidFill>
            <a:srgbClr val="021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726680" y="54041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INCIDENTS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7726680" y="56235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7726680" y="593445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Attributable to the new trader-facing path</a:t>
            </a:r>
            <a:endParaRPr lang="en-US" sz="850"/>
          </a:p>
        </p:txBody>
      </p:sp>
      <p:sp>
        <p:nvSpPr>
          <p:cNvPr id="22" name="Text 18"/>
          <p:cNvSpPr/>
          <p:nvPr/>
        </p:nvSpPr>
        <p:spPr>
          <a:xfrm>
            <a:off x="548640" y="6355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metrics indexed to today = 100, so lower is better. Adoption is share of eligible traders, none on the new path today.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"/>
            <a:ext cx="1143000" cy="2078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74980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STRATEGY + ARCHITECTURE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858000" y="74980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2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STRATEGY · AUG 2026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103327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kern="0" spc="-40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 TRADER TOOLS, KEEP THE CORE ISOLATED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093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trader decisions and desk P&amp;L without increasing operational risk.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IMC TRADER TOOLS  ·  STRATEGY &amp; ROADMAP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YEAR-ONE PATH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77240" y="2761488"/>
            <a:ext cx="10332720" cy="18288"/>
          </a:xfrm>
          <a:prstGeom prst="rect">
            <a:avLst/>
          </a:prstGeom>
          <a:solidFill>
            <a:srgbClr val="D6E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76656" y="2587752"/>
            <a:ext cx="365760" cy="365760"/>
          </a:xfrm>
          <a:prstGeom prst="ellipse">
            <a:avLst/>
          </a:prstGeom>
          <a:solidFill>
            <a:srgbClr val="0126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76656" y="26517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31272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4864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desk workflows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395020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recurring decisions, handoffs and friction.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926080" y="2587752"/>
            <a:ext cx="365760" cy="365760"/>
          </a:xfrm>
          <a:prstGeom prst="ellipse">
            <a:avLst/>
          </a:prstGeom>
          <a:solidFill>
            <a:srgbClr val="0126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926080" y="26517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98064" y="31272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798064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+ risk alerts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798064" y="395020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value on recorded data and in shadow mode.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175504" y="2587752"/>
            <a:ext cx="365760" cy="365760"/>
          </a:xfrm>
          <a:prstGeom prst="ellipse">
            <a:avLst/>
          </a:prstGeom>
          <a:solidFill>
            <a:srgbClr val="0126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175504" y="26517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47488" y="31272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PLATFORMIZE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047488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shared capabilities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047488" y="395020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repeated needs into reusable services.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424928" y="2587752"/>
            <a:ext cx="365760" cy="365760"/>
          </a:xfrm>
          <a:prstGeom prst="ellipse">
            <a:avLst/>
          </a:prstGeom>
          <a:solidFill>
            <a:srgbClr val="0126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424928" y="26517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296912" y="31272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296912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by value + risk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296912" y="395020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only when benefit and reversibility are clear.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674352" y="2587752"/>
            <a:ext cx="365760" cy="365760"/>
          </a:xfrm>
          <a:prstGeom prst="ellipse">
            <a:avLst/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9674352" y="26517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546336" y="31272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PATH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9546336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trader-facing tools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546336" y="395020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modern path standard; govern exceptions.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4864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POSTURE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48640" y="5120640"/>
            <a:ext cx="3566160" cy="566928"/>
          </a:xfrm>
          <a:prstGeom prst="rect">
            <a:avLst/>
          </a:prstGeom>
          <a:solidFill>
            <a:srgbClr val="F4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548640" y="5120640"/>
            <a:ext cx="73152" cy="566928"/>
          </a:xfrm>
          <a:prstGeom prst="rect">
            <a:avLst/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749808" y="5212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 WORKFLOW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49808" y="54223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health · hotkeys · alerts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063240" y="52120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8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343400" y="5120640"/>
            <a:ext cx="3566160" cy="566928"/>
          </a:xfrm>
          <a:prstGeom prst="rect">
            <a:avLst/>
          </a:prstGeom>
          <a:solidFill>
            <a:srgbClr val="F4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4343400" y="5120640"/>
            <a:ext cx="73152" cy="566928"/>
          </a:xfrm>
          <a:prstGeom prst="rect">
            <a:avLst/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544568" y="5212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TOOLKIT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4544568" y="54223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· telemetry · desk state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858000" y="52120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8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8138160" y="5120640"/>
            <a:ext cx="3566160" cy="566928"/>
          </a:xfrm>
          <a:prstGeom prst="rect">
            <a:avLst/>
          </a:prstGeom>
          <a:solidFill>
            <a:srgbClr val="F4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8138160" y="5120640"/>
            <a:ext cx="73152" cy="566928"/>
          </a:xfrm>
          <a:prstGeom prst="rect">
            <a:avLst/>
          </a:prstGeom>
          <a:solidFill>
            <a:srgbClr val="598A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8339328" y="5212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SERVICES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8339328" y="54223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limits · pricing context · monitoring APIs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10652760" y="52120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80" dirty="0">
                <a:solidFill>
                  <a:srgbClr val="598A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548640" y="5779008"/>
            <a:ext cx="3566160" cy="566928"/>
          </a:xfrm>
          <a:prstGeom prst="rect">
            <a:avLst/>
          </a:prstGeom>
          <a:solidFill>
            <a:srgbClr val="F4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548640" y="5779008"/>
            <a:ext cx="73152" cy="566928"/>
          </a:xfrm>
          <a:prstGeom prst="rect">
            <a:avLst/>
          </a:prstGeom>
          <a:solidFill>
            <a:srgbClr val="598A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749808" y="58704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+ STRATEGY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749808" y="60807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· research · replay tools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3063240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80" dirty="0">
                <a:solidFill>
                  <a:srgbClr val="598A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4343400" y="5779008"/>
            <a:ext cx="3566160" cy="566928"/>
          </a:xfrm>
          <a:prstGeom prst="rect">
            <a:avLst/>
          </a:prstGeom>
          <a:solidFill>
            <a:srgbClr val="DDE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4343400" y="5779008"/>
            <a:ext cx="73152" cy="566928"/>
          </a:xfrm>
          <a:prstGeom prst="rect">
            <a:avLst/>
          </a:prstGeom>
          <a:solidFill>
            <a:srgbClr val="114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4544568" y="58704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+ DATA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4544568" y="60807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feeds · fills · events · time-series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6858000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80" dirty="0">
                <a:solidFill>
                  <a:srgbClr val="114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8138160" y="5779008"/>
            <a:ext cx="3566160" cy="566928"/>
          </a:xfrm>
          <a:prstGeom prst="rect">
            <a:avLst/>
          </a:prstGeom>
          <a:solidFill>
            <a:srgbClr val="DDE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8138160" y="5779008"/>
            <a:ext cx="73152" cy="566928"/>
          </a:xfrm>
          <a:prstGeom prst="rect">
            <a:avLst/>
          </a:prstGeom>
          <a:solidFill>
            <a:srgbClr val="0126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8339328" y="58704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+ INFRASTRUCTURE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8339328" y="60807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· order/quote paths · gateways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10652760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80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"/>
            <a:ext cx="1143000" cy="2078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74980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PRIORITISATION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858000" y="74980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2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STRATEGY · AUG 2026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103327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kern="0" spc="-40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TOOLS BY DECISION VALUE AND LIVE-TRADING RISK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093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partnership: trading desks, TPM and strategy software engineering.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IMC TRADER TOOLS  ·  STRATEGY &amp; ROADMAP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TRADER DECISION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50592"/>
            <a:ext cx="5120640" cy="841248"/>
          </a:xfrm>
          <a:prstGeom prst="roundRect">
            <a:avLst>
              <a:gd name="adj" fmla="val 4348"/>
            </a:avLst>
          </a:prstGeom>
          <a:solidFill>
            <a:srgbClr val="F4F8FF"/>
          </a:solidFill>
          <a:ln w="12700">
            <a:solidFill>
              <a:srgbClr val="D6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" y="25968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77240" y="28346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Quote, inventory or venue state shifts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438144"/>
            <a:ext cx="5120640" cy="841248"/>
          </a:xfrm>
          <a:prstGeom prst="roundRect">
            <a:avLst>
              <a:gd name="adj" fmla="val 4348"/>
            </a:avLst>
          </a:prstGeom>
          <a:solidFill>
            <a:srgbClr val="F4F8FF"/>
          </a:solidFill>
          <a:ln w="12700">
            <a:solidFill>
              <a:srgbClr val="D6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35844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NEED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77240" y="38221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market, risk and system health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425696"/>
            <a:ext cx="5120640" cy="841248"/>
          </a:xfrm>
          <a:prstGeom prst="roundRect">
            <a:avLst>
              <a:gd name="adj" fmla="val 4348"/>
            </a:avLst>
          </a:prstGeom>
          <a:solidFill>
            <a:srgbClr val="F4F8FF"/>
          </a:solidFill>
          <a:ln w="12700">
            <a:solidFill>
              <a:srgbClr val="D6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77240" y="45720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CAN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77240" y="4809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Adjust, hedge, verify or escalate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53766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ROUTE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8640" y="5614416"/>
            <a:ext cx="128016" cy="128016"/>
          </a:xfrm>
          <a:prstGeom prst="ellipse">
            <a:avLst/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68096" y="55778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9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1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920240" y="5577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replay + fill verification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48640" y="5806440"/>
            <a:ext cx="128016" cy="128016"/>
          </a:xfrm>
          <a:prstGeom prst="ellipse">
            <a:avLst/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68096" y="57698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9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920240" y="5769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Risk-limit alert triage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48640" y="5998464"/>
            <a:ext cx="128016" cy="128016"/>
          </a:xfrm>
          <a:prstGeom prst="ellipse">
            <a:avLst/>
          </a:prstGeom>
          <a:solidFill>
            <a:srgbClr val="598A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68096" y="5961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90" dirty="0">
                <a:solidFill>
                  <a:srgbClr val="598A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920240" y="59618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+ venue health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48640" y="6190488"/>
            <a:ext cx="128016" cy="128016"/>
          </a:xfrm>
          <a:prstGeom prst="ellipse">
            <a:avLst/>
          </a:prstGeom>
          <a:solidFill>
            <a:srgbClr val="0126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68096" y="6153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90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920240" y="61539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+ execution core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263640" y="214884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 /  PRIORITY MAP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720840" y="2468880"/>
            <a:ext cx="4937760" cy="3017520"/>
          </a:xfrm>
          <a:prstGeom prst="rect">
            <a:avLst/>
          </a:prstGeom>
          <a:solidFill>
            <a:srgbClr val="F4F8FF"/>
          </a:solidFill>
          <a:ln w="12700">
            <a:solidFill>
              <a:srgbClr val="D6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720840" y="3223260"/>
            <a:ext cx="4937760" cy="10973"/>
          </a:xfrm>
          <a:prstGeom prst="rect">
            <a:avLst/>
          </a:prstGeom>
          <a:solidFill>
            <a:srgbClr val="D6E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955280" y="2468880"/>
            <a:ext cx="10973" cy="3017520"/>
          </a:xfrm>
          <a:prstGeom prst="rect">
            <a:avLst/>
          </a:prstGeom>
          <a:solidFill>
            <a:srgbClr val="D6E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720840" y="3977640"/>
            <a:ext cx="4937760" cy="10973"/>
          </a:xfrm>
          <a:prstGeom prst="rect">
            <a:avLst/>
          </a:prstGeom>
          <a:solidFill>
            <a:srgbClr val="D6E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9189720" y="2468880"/>
            <a:ext cx="10973" cy="3017520"/>
          </a:xfrm>
          <a:prstGeom prst="rect">
            <a:avLst/>
          </a:prstGeom>
          <a:solidFill>
            <a:srgbClr val="D6E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6720840" y="4732020"/>
            <a:ext cx="4937760" cy="10973"/>
          </a:xfrm>
          <a:prstGeom prst="rect">
            <a:avLst/>
          </a:prstGeom>
          <a:solidFill>
            <a:srgbClr val="D6E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10424160" y="2468880"/>
            <a:ext cx="10973" cy="3017520"/>
          </a:xfrm>
          <a:prstGeom prst="rect">
            <a:avLst/>
          </a:prstGeom>
          <a:solidFill>
            <a:srgbClr val="D6E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9875520" y="3072384"/>
            <a:ext cx="603504" cy="603504"/>
          </a:xfrm>
          <a:prstGeom prst="ellipse">
            <a:avLst/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9427464" y="3600907"/>
            <a:ext cx="512064" cy="512064"/>
          </a:xfrm>
          <a:prstGeom prst="ellipse">
            <a:avLst/>
          </a:prstGeom>
          <a:solidFill>
            <a:srgbClr val="598A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0274198" y="3962095"/>
            <a:ext cx="694944" cy="694944"/>
          </a:xfrm>
          <a:prstGeom prst="ellipse">
            <a:avLst/>
          </a:prstGeom>
          <a:solidFill>
            <a:srgbClr val="0126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7615123" y="4509821"/>
            <a:ext cx="384048" cy="384048"/>
          </a:xfrm>
          <a:prstGeom prst="ellipse">
            <a:avLst/>
          </a:prstGeom>
          <a:solidFill>
            <a:srgbClr val="B2C9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10828325" y="2623414"/>
            <a:ext cx="475488" cy="475488"/>
          </a:xfrm>
          <a:prstGeom prst="ellipse">
            <a:avLst/>
          </a:prstGeom>
          <a:solidFill>
            <a:srgbClr val="114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720840" y="55595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VALUE →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 rot="16200000">
            <a:off x="5742432" y="38404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6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LIVE-TRADING RISK ↑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6309360" y="5751576"/>
            <a:ext cx="118872" cy="118872"/>
          </a:xfrm>
          <a:prstGeom prst="ellipse">
            <a:avLst/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6510528" y="57058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Post-trade replay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9052560" y="5751576"/>
            <a:ext cx="118872" cy="118872"/>
          </a:xfrm>
          <a:prstGeom prst="ellipse">
            <a:avLst/>
          </a:prstGeom>
          <a:solidFill>
            <a:srgbClr val="598A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9253728" y="57058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Risk-limit alert triage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6309360" y="5943600"/>
            <a:ext cx="118872" cy="118872"/>
          </a:xfrm>
          <a:prstGeom prst="ellipse">
            <a:avLst/>
          </a:prstGeom>
          <a:solidFill>
            <a:srgbClr val="0126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6510528" y="58978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+ venue workspace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9052560" y="5943600"/>
            <a:ext cx="118872" cy="118872"/>
          </a:xfrm>
          <a:prstGeom prst="ellipse">
            <a:avLst/>
          </a:prstGeom>
          <a:solidFill>
            <a:srgbClr val="B2C9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9253728" y="58978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reporting views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309360" y="6135624"/>
            <a:ext cx="118872" cy="118872"/>
          </a:xfrm>
          <a:prstGeom prst="ellipse">
            <a:avLst/>
          </a:prstGeom>
          <a:solidFill>
            <a:srgbClr val="114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6510528" y="60899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/ execution core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"/>
            <a:ext cx="1143000" cy="2078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74980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DELIVERY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858000" y="74980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2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STRATEGY · AUG 2026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103327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kern="0" spc="-40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DESK WORKFLOWS, THEN SCALE WHAT GETS REUSED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093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desk evidence, not request volume, set pilot sequencing and release decisions.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IMC TRADER TOOLS  ·  STRATEGY &amp; ROADMAP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DELIVERY PLAN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10973" cy="2240280"/>
          </a:xfrm>
          <a:prstGeom prst="rect">
            <a:avLst/>
          </a:prstGeom>
          <a:solidFill>
            <a:srgbClr val="D6E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0040" y="2450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508760" y="2697480"/>
            <a:ext cx="10973" cy="2240280"/>
          </a:xfrm>
          <a:prstGeom prst="rect">
            <a:avLst/>
          </a:prstGeom>
          <a:solidFill>
            <a:srgbClr val="D6E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280160" y="2450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468880" y="2697480"/>
            <a:ext cx="10973" cy="2240280"/>
          </a:xfrm>
          <a:prstGeom prst="rect">
            <a:avLst/>
          </a:prstGeom>
          <a:solidFill>
            <a:srgbClr val="D6E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240280" y="2450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429000" y="2697480"/>
            <a:ext cx="10973" cy="2240280"/>
          </a:xfrm>
          <a:prstGeom prst="rect">
            <a:avLst/>
          </a:prstGeom>
          <a:solidFill>
            <a:srgbClr val="D6E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200400" y="2450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389120" y="2697480"/>
            <a:ext cx="10973" cy="2240280"/>
          </a:xfrm>
          <a:prstGeom prst="rect">
            <a:avLst/>
          </a:prstGeom>
          <a:solidFill>
            <a:srgbClr val="D6E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160520" y="2450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349240" y="2697480"/>
            <a:ext cx="10973" cy="2240280"/>
          </a:xfrm>
          <a:prstGeom prst="rect">
            <a:avLst/>
          </a:prstGeom>
          <a:solidFill>
            <a:srgbClr val="D6E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120640" y="2450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309360" y="2697480"/>
            <a:ext cx="10973" cy="2240280"/>
          </a:xfrm>
          <a:prstGeom prst="rect">
            <a:avLst/>
          </a:prstGeom>
          <a:solidFill>
            <a:srgbClr val="D6E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080760" y="2450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48640" y="2834640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0126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58368" y="29169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148840" y="3364992"/>
            <a:ext cx="1280160" cy="347472"/>
          </a:xfrm>
          <a:prstGeom prst="roundRect">
            <a:avLst>
              <a:gd name="adj" fmla="val 10526"/>
            </a:avLst>
          </a:prstGeom>
          <a:solidFill>
            <a:srgbClr val="0126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258568" y="34472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429000" y="3895344"/>
            <a:ext cx="1600200" cy="347472"/>
          </a:xfrm>
          <a:prstGeom prst="roundRect">
            <a:avLst>
              <a:gd name="adj" fmla="val 10526"/>
            </a:avLst>
          </a:prstGeom>
          <a:solidFill>
            <a:srgbClr val="0126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538728" y="3977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029200" y="4425696"/>
            <a:ext cx="1280160" cy="347472"/>
          </a:xfrm>
          <a:prstGeom prst="roundRect">
            <a:avLst>
              <a:gd name="adj" fmla="val 10526"/>
            </a:avLst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138928" y="45079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48640" y="51389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0–25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325880" y="51389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workflows and integrations.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520440" y="51389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25–45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297680" y="51389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pilots, lock baselines.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48640" y="56875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45–70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1325880" y="56875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Prototype, instrument, shadow.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3520440" y="56875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70–90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4297680" y="56875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Compare, release or roll back.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537960" y="214884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GATES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537960" y="2450592"/>
            <a:ext cx="5120640" cy="621792"/>
          </a:xfrm>
          <a:prstGeom prst="roundRect">
            <a:avLst>
              <a:gd name="adj" fmla="val 5882"/>
            </a:avLst>
          </a:prstGeom>
          <a:solidFill>
            <a:srgbClr val="F4F8FF"/>
          </a:solidFill>
          <a:ln w="12700">
            <a:solidFill>
              <a:srgbClr val="D6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6766560" y="26151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7269480" y="25694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 LOCKED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7269480" y="280720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BUILD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537960" y="3182112"/>
            <a:ext cx="5120640" cy="621792"/>
          </a:xfrm>
          <a:prstGeom prst="roundRect">
            <a:avLst>
              <a:gd name="adj" fmla="val 5882"/>
            </a:avLst>
          </a:prstGeom>
          <a:solidFill>
            <a:srgbClr val="F4F8FF"/>
          </a:solidFill>
          <a:ln w="12700">
            <a:solidFill>
              <a:srgbClr val="D6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766560" y="33467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7269480" y="33009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LIVE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7269480" y="353872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SHADOW DATA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6537960" y="3913632"/>
            <a:ext cx="5120640" cy="621792"/>
          </a:xfrm>
          <a:prstGeom prst="roundRect">
            <a:avLst>
              <a:gd name="adj" fmla="val 5882"/>
            </a:avLst>
          </a:prstGeom>
          <a:solidFill>
            <a:srgbClr val="F4F8FF"/>
          </a:solidFill>
          <a:ln w="12700">
            <a:solidFill>
              <a:srgbClr val="D6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6766560" y="4078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7269480" y="40325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+ ROLLBACK PROVEN</a:t>
            </a:r>
            <a:endParaRPr lang="en-US" sz="1150" dirty="0"/>
          </a:p>
        </p:txBody>
      </p:sp>
      <p:sp>
        <p:nvSpPr>
          <p:cNvPr id="52" name="Text 49"/>
          <p:cNvSpPr/>
          <p:nvPr/>
        </p:nvSpPr>
        <p:spPr>
          <a:xfrm>
            <a:off x="7269480" y="42702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75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RELEASE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6537960" y="48280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3–12  /  SCALE AND RETIRE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6537960" y="5166360"/>
            <a:ext cx="128016" cy="128016"/>
          </a:xfrm>
          <a:prstGeom prst="ellipse">
            <a:avLst/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6766560" y="51206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90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PATH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8366760" y="51206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the modern-tool policy; name exception owners.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6537960" y="5495544"/>
            <a:ext cx="128016" cy="128016"/>
          </a:xfrm>
          <a:prstGeom prst="ellipse">
            <a:avLst/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6766560" y="54498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90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MIGRATIONS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8366760" y="54498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high-friction tools through incumbent and shadow gates.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6537960" y="5824728"/>
            <a:ext cx="128016" cy="128016"/>
          </a:xfrm>
          <a:prstGeom prst="ellipse">
            <a:avLst/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6766560" y="57790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90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 WAVE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8366760" y="57790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duplication when usage, risk and rollback evidence agree.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6537960" y="6153912"/>
            <a:ext cx="128016" cy="128016"/>
          </a:xfrm>
          <a:prstGeom prst="ellipse">
            <a:avLst/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6766560" y="61081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90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BY DIFFERENCE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8366760" y="61081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by default, configure by desk, specialize only on real edge.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"/>
            <a:ext cx="1143000" cy="2078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74980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/ RISK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858000" y="74980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2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STRATEGY · AUG 2026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103327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kern="0" spc="-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THE ROLLOUT RISKS BY LIKELIHOOD AND IMPACT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093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sets the response: contain the top-right, monitor the rest.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IMC TRADER TOOLS  ·  STRATEGY &amp; ROADMAP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× IMPACT HEAT MAP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417320" y="2487168"/>
            <a:ext cx="1124712" cy="731520"/>
          </a:xfrm>
          <a:prstGeom prst="rect">
            <a:avLst/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587752" y="2487168"/>
            <a:ext cx="1124712" cy="731520"/>
          </a:xfrm>
          <a:prstGeom prst="rect">
            <a:avLst/>
          </a:prstGeom>
          <a:solidFill>
            <a:srgbClr val="3671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758184" y="2487168"/>
            <a:ext cx="1124712" cy="731520"/>
          </a:xfrm>
          <a:prstGeom prst="rect">
            <a:avLst/>
          </a:prstGeom>
          <a:solidFill>
            <a:srgbClr val="8DAF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928616" y="2487168"/>
            <a:ext cx="1124712" cy="731520"/>
          </a:xfrm>
          <a:prstGeom prst="rect">
            <a:avLst/>
          </a:prstGeom>
          <a:solidFill>
            <a:srgbClr val="8DAF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417320" y="3264408"/>
            <a:ext cx="1124712" cy="731520"/>
          </a:xfrm>
          <a:prstGeom prst="rect">
            <a:avLst/>
          </a:prstGeom>
          <a:solidFill>
            <a:srgbClr val="114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587752" y="3264408"/>
            <a:ext cx="1124712" cy="731520"/>
          </a:xfrm>
          <a:prstGeom prst="rect">
            <a:avLst/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758184" y="3264408"/>
            <a:ext cx="1124712" cy="731520"/>
          </a:xfrm>
          <a:prstGeom prst="rect">
            <a:avLst/>
          </a:prstGeom>
          <a:solidFill>
            <a:srgbClr val="3671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928616" y="3264408"/>
            <a:ext cx="1124712" cy="731520"/>
          </a:xfrm>
          <a:prstGeom prst="rect">
            <a:avLst/>
          </a:prstGeom>
          <a:solidFill>
            <a:srgbClr val="8DAF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417320" y="4041648"/>
            <a:ext cx="1124712" cy="731520"/>
          </a:xfrm>
          <a:prstGeom prst="rect">
            <a:avLst/>
          </a:prstGeom>
          <a:solidFill>
            <a:srgbClr val="114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587752" y="4041648"/>
            <a:ext cx="1124712" cy="731520"/>
          </a:xfrm>
          <a:prstGeom prst="rect">
            <a:avLst/>
          </a:prstGeom>
          <a:solidFill>
            <a:srgbClr val="114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758184" y="4041648"/>
            <a:ext cx="1124712" cy="731520"/>
          </a:xfrm>
          <a:prstGeom prst="rect">
            <a:avLst/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928616" y="4041648"/>
            <a:ext cx="1124712" cy="731520"/>
          </a:xfrm>
          <a:prstGeom prst="rect">
            <a:avLst/>
          </a:prstGeom>
          <a:solidFill>
            <a:srgbClr val="3671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417320" y="4818888"/>
            <a:ext cx="1124712" cy="731520"/>
          </a:xfrm>
          <a:prstGeom prst="rect">
            <a:avLst/>
          </a:prstGeom>
          <a:solidFill>
            <a:srgbClr val="072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2587752" y="4818888"/>
            <a:ext cx="1124712" cy="731520"/>
          </a:xfrm>
          <a:prstGeom prst="rect">
            <a:avLst/>
          </a:prstGeom>
          <a:solidFill>
            <a:srgbClr val="114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758184" y="4818888"/>
            <a:ext cx="1124712" cy="731520"/>
          </a:xfrm>
          <a:prstGeom prst="rect">
            <a:avLst/>
          </a:prstGeom>
          <a:solidFill>
            <a:srgbClr val="114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928616" y="4818888"/>
            <a:ext cx="1124712" cy="731520"/>
          </a:xfrm>
          <a:prstGeom prst="rect">
            <a:avLst/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48640" y="27432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8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48640" y="35204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8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48640" y="42976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8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48640" y="50749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8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417320" y="5650992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587752" y="5650992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758184" y="5650992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928616" y="5650992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2976372" y="267919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2976372" y="275234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146804" y="345643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146804" y="35295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146804" y="423367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146804" y="430682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317236" y="423367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5317236" y="430682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2976372" y="345643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2976372" y="35295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2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 rot="16200000">
            <a:off x="228600" y="3886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↑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1417320" y="5897880"/>
            <a:ext cx="4681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→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48640" y="61630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is a planning judgement, re-scored with desk evidence each month.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6537960" y="214884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/ MITIGATION / OWNER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6537960" y="2450592"/>
            <a:ext cx="5120640" cy="676656"/>
          </a:xfrm>
          <a:prstGeom prst="roundRect">
            <a:avLst>
              <a:gd name="adj" fmla="val 5405"/>
            </a:avLst>
          </a:prstGeom>
          <a:solidFill>
            <a:srgbClr val="0A3157"/>
          </a:solidFill>
          <a:ln w="12700">
            <a:solidFill>
              <a:srgbClr val="164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6537960" y="2450592"/>
            <a:ext cx="73152" cy="676656"/>
          </a:xfrm>
          <a:prstGeom prst="rect">
            <a:avLst/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6720840" y="2569464"/>
            <a:ext cx="256032" cy="256032"/>
          </a:xfrm>
          <a:prstGeom prst="ellipse">
            <a:avLst/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720840" y="26060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059168" y="25694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Live-execution contagion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9784080" y="25877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kern="0" spc="8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LEAD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059168" y="2816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out of scope; no synchronous trader-facing call in the execution path.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537960" y="3227832"/>
            <a:ext cx="5120640" cy="676656"/>
          </a:xfrm>
          <a:prstGeom prst="roundRect">
            <a:avLst>
              <a:gd name="adj" fmla="val 5405"/>
            </a:avLst>
          </a:prstGeom>
          <a:solidFill>
            <a:srgbClr val="0A3157"/>
          </a:solidFill>
          <a:ln w="12700">
            <a:solidFill>
              <a:srgbClr val="164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6537960" y="3227832"/>
            <a:ext cx="73152" cy="676656"/>
          </a:xfrm>
          <a:prstGeom prst="rect">
            <a:avLst/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6720840" y="3346704"/>
            <a:ext cx="256032" cy="256032"/>
          </a:xfrm>
          <a:prstGeom prst="ellipse">
            <a:avLst/>
          </a:prstGeom>
          <a:solidFill>
            <a:srgbClr val="0751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6720840" y="338328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7059168" y="33467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 adoption stalls</a:t>
            </a:r>
            <a:endParaRPr lang="en-US" sz="1050" dirty="0"/>
          </a:p>
        </p:txBody>
      </p:sp>
      <p:sp>
        <p:nvSpPr>
          <p:cNvPr id="60" name="Text 57"/>
          <p:cNvSpPr/>
          <p:nvPr/>
        </p:nvSpPr>
        <p:spPr>
          <a:xfrm>
            <a:off x="9784080" y="33649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kern="0" spc="8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 TPM</a:t>
            </a:r>
            <a:endParaRPr lang="en-US" sz="750" dirty="0"/>
          </a:p>
        </p:txBody>
      </p:sp>
      <p:sp>
        <p:nvSpPr>
          <p:cNvPr id="61" name="Text 58"/>
          <p:cNvSpPr/>
          <p:nvPr/>
        </p:nvSpPr>
        <p:spPr>
          <a:xfrm>
            <a:off x="7059168" y="35935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desk pilots inside the existing workflow; decision delta gates each release.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6537960" y="4005072"/>
            <a:ext cx="5120640" cy="676656"/>
          </a:xfrm>
          <a:prstGeom prst="roundRect">
            <a:avLst>
              <a:gd name="adj" fmla="val 5405"/>
            </a:avLst>
          </a:prstGeom>
          <a:solidFill>
            <a:srgbClr val="0A3157"/>
          </a:solidFill>
          <a:ln w="12700">
            <a:solidFill>
              <a:srgbClr val="164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6537960" y="4005072"/>
            <a:ext cx="73152" cy="676656"/>
          </a:xfrm>
          <a:prstGeom prst="rect">
            <a:avLst/>
          </a:prstGeom>
          <a:solidFill>
            <a:srgbClr val="598A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6720840" y="4123944"/>
            <a:ext cx="256032" cy="256032"/>
          </a:xfrm>
          <a:prstGeom prst="ellipse">
            <a:avLst/>
          </a:prstGeom>
          <a:solidFill>
            <a:srgbClr val="598A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6720840" y="41605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7059168" y="412394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Unproven baselines</a:t>
            </a:r>
            <a:endParaRPr lang="en-US" sz="1050" dirty="0"/>
          </a:p>
        </p:txBody>
      </p:sp>
      <p:sp>
        <p:nvSpPr>
          <p:cNvPr id="67" name="Text 64"/>
          <p:cNvSpPr/>
          <p:nvPr/>
        </p:nvSpPr>
        <p:spPr>
          <a:xfrm>
            <a:off x="9784080" y="4142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kern="0" spc="8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LEAD</a:t>
            </a:r>
            <a:endParaRPr lang="en-US" sz="750" dirty="0"/>
          </a:p>
        </p:txBody>
      </p:sp>
      <p:sp>
        <p:nvSpPr>
          <p:cNvPr id="68" name="Text 65"/>
          <p:cNvSpPr/>
          <p:nvPr/>
        </p:nvSpPr>
        <p:spPr>
          <a:xfrm>
            <a:off x="7059168" y="43708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 locked on comparable episodes; P50 / P90 published with denominators.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6537960" y="4782312"/>
            <a:ext cx="5120640" cy="676656"/>
          </a:xfrm>
          <a:prstGeom prst="roundRect">
            <a:avLst>
              <a:gd name="adj" fmla="val 5405"/>
            </a:avLst>
          </a:prstGeom>
          <a:solidFill>
            <a:srgbClr val="0A3157"/>
          </a:solidFill>
          <a:ln w="12700">
            <a:solidFill>
              <a:srgbClr val="164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6537960" y="4782312"/>
            <a:ext cx="73152" cy="676656"/>
          </a:xfrm>
          <a:prstGeom prst="rect">
            <a:avLst/>
          </a:prstGeom>
          <a:solidFill>
            <a:srgbClr val="598A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6720840" y="4901184"/>
            <a:ext cx="256032" cy="256032"/>
          </a:xfrm>
          <a:prstGeom prst="ellipse">
            <a:avLst/>
          </a:prstGeom>
          <a:solidFill>
            <a:srgbClr val="598A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6720840" y="493776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7059168" y="49011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debt and fragmentation</a:t>
            </a:r>
            <a:endParaRPr lang="en-US" sz="1050" dirty="0"/>
          </a:p>
        </p:txBody>
      </p:sp>
      <p:sp>
        <p:nvSpPr>
          <p:cNvPr id="74" name="Text 71"/>
          <p:cNvSpPr/>
          <p:nvPr/>
        </p:nvSpPr>
        <p:spPr>
          <a:xfrm>
            <a:off x="9784080" y="4919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kern="0" spc="8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ENG LEAD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7059168" y="514807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only capabilities used by 2+ workflows; vary by configuration, never fork.</a:t>
            </a:r>
            <a:endParaRPr lang="en-US" sz="850" dirty="0"/>
          </a:p>
        </p:txBody>
      </p:sp>
      <p:sp>
        <p:nvSpPr>
          <p:cNvPr id="76" name="Shape 73"/>
          <p:cNvSpPr/>
          <p:nvPr/>
        </p:nvSpPr>
        <p:spPr>
          <a:xfrm>
            <a:off x="6537960" y="5559552"/>
            <a:ext cx="5120640" cy="676656"/>
          </a:xfrm>
          <a:prstGeom prst="roundRect">
            <a:avLst>
              <a:gd name="adj" fmla="val 5405"/>
            </a:avLst>
          </a:prstGeom>
          <a:solidFill>
            <a:srgbClr val="0A3157"/>
          </a:solidFill>
          <a:ln w="12700">
            <a:solidFill>
              <a:srgbClr val="164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4"/>
          <p:cNvSpPr/>
          <p:nvPr/>
        </p:nvSpPr>
        <p:spPr>
          <a:xfrm>
            <a:off x="6537960" y="5559552"/>
            <a:ext cx="73152" cy="676656"/>
          </a:xfrm>
          <a:prstGeom prst="rect">
            <a:avLst/>
          </a:prstGeom>
          <a:solidFill>
            <a:srgbClr val="B2C9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6720840" y="5678424"/>
            <a:ext cx="256032" cy="256032"/>
          </a:xfrm>
          <a:prstGeom prst="ellipse">
            <a:avLst/>
          </a:prstGeom>
          <a:solidFill>
            <a:srgbClr val="B2C9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6720840" y="57150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7059168" y="567842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and ownership gaps</a:t>
            </a:r>
            <a:endParaRPr lang="en-US" sz="1050" dirty="0"/>
          </a:p>
        </p:txBody>
      </p:sp>
      <p:sp>
        <p:nvSpPr>
          <p:cNvPr id="81" name="Text 78"/>
          <p:cNvSpPr/>
          <p:nvPr/>
        </p:nvSpPr>
        <p:spPr>
          <a:xfrm>
            <a:off x="9784080" y="56967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kern="0" spc="80" dirty="0">
                <a:solidFill>
                  <a:srgbClr val="8D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OWNER</a:t>
            </a:r>
            <a:endParaRPr lang="en-US" sz="750" dirty="0"/>
          </a:p>
        </p:txBody>
      </p:sp>
      <p:sp>
        <p:nvSpPr>
          <p:cNvPr id="82" name="Text 79"/>
          <p:cNvSpPr/>
          <p:nvPr/>
        </p:nvSpPr>
        <p:spPr>
          <a:xfrm>
            <a:off x="7059168" y="59253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One-step rollback rehearsed each release; named owner before promotion.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"/>
            <a:ext cx="1143000" cy="2078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74980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50" normalizeH="0" baseline="0" noProof="0" dirty="0">
                <a:ln>
                  <a:noFill/>
                </a:ln>
                <a:solidFill>
                  <a:srgbClr val="8DAF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APPENDIX A2 / SELECTIVE MECHANISMS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6858000" y="74980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20" normalizeH="0" baseline="0" noProof="0" dirty="0">
                <a:ln>
                  <a:noFill/>
                </a:ln>
                <a:solidFill>
                  <a:srgbClr val="8DAF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PRODUCT STRATEGY · AUG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48640" y="103327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KEEP THE ROADMAP, BORROW ALTERNATIVES SELECTIVELY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16093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6E3F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Each mechanism solves a narrower failure mode; none replaces the full strategy.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20" normalizeH="0" baseline="0" noProof="0" dirty="0">
                <a:ln>
                  <a:noFill/>
                </a:ln>
                <a:solidFill>
                  <a:srgbClr val="8DAF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IMC TRADER TOOLS  ·  STRATEGY &amp; ROADMAP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8DAF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40" normalizeH="0" baseline="0" noProof="0" dirty="0">
                <a:ln>
                  <a:noFill/>
                </a:ln>
                <a:solidFill>
                  <a:srgbClr val="8DAF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QUALITATIVE TRADE-OFF MAP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371600" y="2487168"/>
            <a:ext cx="4846320" cy="3108960"/>
          </a:xfrm>
          <a:prstGeom prst="rect">
            <a:avLst/>
          </a:prstGeom>
          <a:solidFill>
            <a:srgbClr val="0A315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794760" y="2487168"/>
            <a:ext cx="10973" cy="3108960"/>
          </a:xfrm>
          <a:prstGeom prst="rect">
            <a:avLst/>
          </a:prstGeom>
          <a:solidFill>
            <a:srgbClr val="1B54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371600" y="4041648"/>
            <a:ext cx="4846320" cy="10973"/>
          </a:xfrm>
          <a:prstGeom prst="rect">
            <a:avLst/>
          </a:prstGeom>
          <a:solidFill>
            <a:srgbClr val="1B54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438498" y="2818181"/>
            <a:ext cx="457200" cy="457200"/>
          </a:xfrm>
          <a:prstGeom prst="ellipse">
            <a:avLst/>
          </a:prstGeom>
          <a:solidFill>
            <a:srgbClr val="0751E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968850" y="2827325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SHADOW /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DUAL-RUN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311957" y="3414370"/>
            <a:ext cx="384048" cy="384048"/>
          </a:xfrm>
          <a:prstGeom prst="ellipse">
            <a:avLst/>
          </a:prstGeom>
          <a:solidFill>
            <a:srgbClr val="598A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769157" y="338693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333549" y="4027018"/>
            <a:ext cx="402336" cy="402336"/>
          </a:xfrm>
          <a:prstGeom prst="ellipse">
            <a:avLst/>
          </a:prstGeom>
          <a:solidFill>
            <a:srgbClr val="8DAFF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809037" y="400873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761134" y="4720133"/>
            <a:ext cx="384048" cy="384048"/>
          </a:xfrm>
          <a:prstGeom prst="ellipse">
            <a:avLst/>
          </a:prstGeom>
          <a:solidFill>
            <a:srgbClr val="B2C9F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218334" y="4692701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RISK-FIRST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20040" y="2542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60" normalizeH="0" baseline="0" noProof="0">
                <a:ln>
                  <a:noFill/>
                </a:ln>
                <a:solidFill>
                  <a:srgbClr val="8DAF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HIGHER OVERHEAD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20040" y="523036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60" normalizeH="0" baseline="0" noProof="0">
                <a:ln>
                  <a:noFill/>
                </a:ln>
                <a:solidFill>
                  <a:srgbClr val="8DAF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LOWER OVERHEAD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371600" y="56692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60" normalizeH="0" baseline="0" noProof="0" dirty="0">
                <a:ln>
                  <a:noFill/>
                </a:ln>
                <a:solidFill>
                  <a:srgbClr val="8DAF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LESS EVIDENCE BEFORE LIVE EXPOSURE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794760" y="56692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60" normalizeH="0" baseline="0" noProof="0" dirty="0">
                <a:ln>
                  <a:noFill/>
                </a:ln>
                <a:solidFill>
                  <a:srgbClr val="8DAF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MORE EVIDENCE BEFORE LIVE EXPOSURE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48640" y="603504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DAF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Placement is a qualitative synthesis of the source-deck trade-offs, not a measured score.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766560" y="214884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40" normalizeH="0" baseline="0" noProof="0" dirty="0">
                <a:ln>
                  <a:noFill/>
                </a:ln>
                <a:solidFill>
                  <a:srgbClr val="8DAF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HOW TO BORROW THEM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766560" y="2450592"/>
            <a:ext cx="4892040" cy="731520"/>
          </a:xfrm>
          <a:prstGeom prst="roundRect">
            <a:avLst>
              <a:gd name="adj" fmla="val 5000"/>
            </a:avLst>
          </a:prstGeom>
          <a:solidFill>
            <a:srgbClr val="0A3157"/>
          </a:solidFill>
          <a:ln w="12700">
            <a:solidFill>
              <a:srgbClr val="1645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967728" y="262432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751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406640" y="25694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10" normalizeH="0" baseline="0" noProof="0" dirty="0">
                <a:ln>
                  <a:noFill/>
                </a:ln>
                <a:solidFill>
                  <a:srgbClr val="8DAF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406640" y="27614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Risk-first routing + safety budget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406640" y="298094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DAF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Before RICE or release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0241280" y="26334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D6E3F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Screen by blast radius and reversibility before RICE.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6766560" y="3291840"/>
            <a:ext cx="4892040" cy="731520"/>
          </a:xfrm>
          <a:prstGeom prst="roundRect">
            <a:avLst>
              <a:gd name="adj" fmla="val 5000"/>
            </a:avLst>
          </a:prstGeom>
          <a:solidFill>
            <a:srgbClr val="0A3157"/>
          </a:solidFill>
          <a:ln w="12700">
            <a:solidFill>
              <a:srgbClr val="1645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967728" y="346557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751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406640" y="34107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10" normalizeH="0" baseline="0" noProof="0" dirty="0">
                <a:ln>
                  <a:noFill/>
                </a:ln>
                <a:solidFill>
                  <a:srgbClr val="8DAF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7406640" y="36027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Replay comparison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406640" y="382219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DAF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Before live shadowing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0241280" y="3474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D6E3F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Compare concepts on the same episodes before shadow.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6766560" y="4133088"/>
            <a:ext cx="4892040" cy="731520"/>
          </a:xfrm>
          <a:prstGeom prst="roundRect">
            <a:avLst>
              <a:gd name="adj" fmla="val 5000"/>
            </a:avLst>
          </a:prstGeom>
          <a:solidFill>
            <a:srgbClr val="0A3157"/>
          </a:solidFill>
          <a:ln w="12700">
            <a:solidFill>
              <a:srgbClr val="1645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967728" y="43068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751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7406640" y="42519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10" normalizeH="0" baseline="0" noProof="0" dirty="0">
                <a:ln>
                  <a:noFill/>
                </a:ln>
                <a:solidFill>
                  <a:srgbClr val="8DAF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MIGRATE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7406640" y="44439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Decision twin / dual-run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7406640" y="46634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DAF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When state risk merits the overhead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10241280" y="43159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D6E3F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Hard stop rules; strong attribution required.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6766560" y="4974336"/>
            <a:ext cx="4892040" cy="731520"/>
          </a:xfrm>
          <a:prstGeom prst="roundRect">
            <a:avLst>
              <a:gd name="adj" fmla="val 5000"/>
            </a:avLst>
          </a:prstGeom>
          <a:solidFill>
            <a:srgbClr val="0A3157"/>
          </a:solidFill>
          <a:ln w="12700">
            <a:solidFill>
              <a:srgbClr val="1645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967728" y="514807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751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7406640" y="5093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10" normalizeH="0" baseline="0" noProof="0" dirty="0">
                <a:ln>
                  <a:noFill/>
                </a:ln>
                <a:solidFill>
                  <a:srgbClr val="8DAF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7406640" y="52852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Capability demand signal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7406640" y="55046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DAF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After controls and reuse are proven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10241280" y="515721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D6E3F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Strong proof before replacement; higher operating cost.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6766560" y="5852160"/>
            <a:ext cx="4892040" cy="457200"/>
          </a:xfrm>
          <a:prstGeom prst="roundRect">
            <a:avLst>
              <a:gd name="adj" fmla="val 10000"/>
            </a:avLst>
          </a:prstGeom>
          <a:solidFill>
            <a:srgbClr val="0751E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6766560" y="597103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ORIGINAL ROADMAP REMAINS THE SPINE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1057</Words>
  <PresentationFormat>Widescreen</PresentationFormat>
  <Paragraphs>237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Shivam Singh</dc:creator>
  <dcterms:created xsi:type="dcterms:W3CDTF">2026-08-14T21:30:54Z</dcterms:created>
  <dcterms:modified xsi:type="dcterms:W3CDTF">2026-08-21T06:55:58Z</dcterms:modified>
  <dc:title>IMC Trader Platform Product Strategy</dc:title>
  <dc:subject>Product strategy for an institutional trader platform, including workflows, roadmap priorities, and success measures.</dc:subject>
  <cp:keywords>IMC; trader platform; product strategy; institutional trading; roadmap; interview assignment</cp:keywords>
  <dc:description>Six-slide product strategy presentation for an institutional trader platform.</dc:description>
  <cp:category>Interview Assignment</cp:category>
  <cp:contentStatus>Prepared</cp:contentStatus>
  <dc:language>en</dc:language>
</cp:coreProperties>
</file>